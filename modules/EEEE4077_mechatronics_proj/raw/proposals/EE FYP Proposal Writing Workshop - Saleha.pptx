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6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0083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0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2653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127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6058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7991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8121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2639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2443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720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4673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10/2/2025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138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8C275F-D687-05FC-D683-8DC91C3BBE5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1111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912025B4-7337-735E-4DC9-E634D20119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73183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20000"/>
                </a:schemeClr>
              </a:gs>
              <a:gs pos="26000">
                <a:schemeClr val="bg1">
                  <a:alpha val="7000"/>
                </a:schemeClr>
              </a:gs>
              <a:gs pos="100000">
                <a:schemeClr val="bg1">
                  <a:alpha val="3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18411A-5F48-4C02-3435-AB1314654E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8910" y="978408"/>
            <a:ext cx="4795819" cy="3969960"/>
          </a:xfrm>
        </p:spPr>
        <p:txBody>
          <a:bodyPr anchor="t">
            <a:normAutofit/>
          </a:bodyPr>
          <a:lstStyle/>
          <a:p>
            <a:r>
              <a:rPr lang="en-US" sz="6600" dirty="0"/>
              <a:t>Proposal Writing Workshop</a:t>
            </a:r>
            <a:endParaRPr lang="en-GB" sz="6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F51E64-6398-1A2D-11BA-8D547D66A3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8910" y="4948369"/>
            <a:ext cx="4381634" cy="1157436"/>
          </a:xfrm>
        </p:spPr>
        <p:txBody>
          <a:bodyPr anchor="b">
            <a:normAutofit fontScale="77500" lnSpcReduction="20000"/>
          </a:bodyPr>
          <a:lstStyle/>
          <a:p>
            <a:r>
              <a:rPr lang="en-US" sz="2400" dirty="0" err="1"/>
              <a:t>Ms</a:t>
            </a:r>
            <a:r>
              <a:rPr lang="en-US" sz="2400" dirty="0"/>
              <a:t> </a:t>
            </a:r>
            <a:r>
              <a:rPr lang="en-US" sz="2400" dirty="0" err="1"/>
              <a:t>Saleha</a:t>
            </a:r>
            <a:r>
              <a:rPr lang="en-US" sz="2400" dirty="0"/>
              <a:t> Abdul Rahman</a:t>
            </a:r>
          </a:p>
          <a:p>
            <a:r>
              <a:rPr lang="en-US" sz="2400" dirty="0"/>
              <a:t>School </a:t>
            </a:r>
            <a:r>
              <a:rPr lang="en-US" sz="2400"/>
              <a:t>of Education</a:t>
            </a:r>
          </a:p>
          <a:p>
            <a:r>
              <a:rPr lang="en-US" sz="2400"/>
              <a:t>Thursday </a:t>
            </a:r>
            <a:r>
              <a:rPr lang="en-US" sz="2400" dirty="0"/>
              <a:t>2 October 2025</a:t>
            </a:r>
          </a:p>
          <a:p>
            <a:endParaRPr lang="en-GB" sz="24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50CDACD-D191-E642-F686-FCB54B7E5F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4695702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470553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C4DC0-EE00-CF8C-2AFE-46F0B3078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Workshop aims</a:t>
            </a:r>
            <a:br>
              <a:rPr lang="en-US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D15945-7846-3102-2D26-D6ACAFEBDB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dirty="0"/>
              <a:t>By the end of the session you should be able to:</a:t>
            </a:r>
          </a:p>
          <a:p>
            <a:pPr lvl="0"/>
            <a:r>
              <a:rPr lang="en-GB" sz="2800" dirty="0"/>
              <a:t>Identify the key components of an engineering project proposal</a:t>
            </a:r>
          </a:p>
          <a:p>
            <a:pPr lvl="0"/>
            <a:r>
              <a:rPr lang="en-US" sz="2800" dirty="0"/>
              <a:t>Structure a clear and logical proposal outline that </a:t>
            </a:r>
            <a:r>
              <a:rPr lang="en-US" sz="2800" dirty="0" err="1"/>
              <a:t>organises</a:t>
            </a:r>
            <a:r>
              <a:rPr lang="en-US" sz="2800" dirty="0"/>
              <a:t> ideas coherently and reflects disciplinary expectations.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5486603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A1EF7-17EF-66C0-DEA6-6FD844A71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overview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A2BBFC-242E-C3D1-21A8-CEA2410DE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113613"/>
            <a:ext cx="11155680" cy="4232323"/>
          </a:xfrm>
        </p:spPr>
        <p:txBody>
          <a:bodyPr>
            <a:normAutofit fontScale="92500"/>
          </a:bodyPr>
          <a:lstStyle/>
          <a:p>
            <a:pPr fontAlgn="base"/>
            <a:r>
              <a:rPr lang="en-US" sz="2800" b="1" dirty="0"/>
              <a:t>Project purpose and context</a:t>
            </a:r>
            <a:r>
              <a:rPr lang="en-US" sz="2800" dirty="0"/>
              <a:t>​ Clearly describe the project’s purpose/problem statement and its relevance in academic or industrial settings.​ </a:t>
            </a:r>
          </a:p>
          <a:p>
            <a:pPr fontAlgn="base"/>
            <a:r>
              <a:rPr lang="en-US" sz="2800" b="1" dirty="0"/>
              <a:t>Key elements and interrelations</a:t>
            </a:r>
            <a:r>
              <a:rPr lang="en-US" sz="2800" dirty="0"/>
              <a:t>​ Introduce key project elements and explain how they interact within the system or workflow.​</a:t>
            </a:r>
          </a:p>
          <a:p>
            <a:pPr fontAlgn="base"/>
            <a:r>
              <a:rPr lang="en-US" sz="2800" b="1" dirty="0"/>
              <a:t>Visual aid for understanding</a:t>
            </a:r>
            <a:r>
              <a:rPr lang="en-US" sz="2800" dirty="0"/>
              <a:t>​ Use block diagrams to visually represent the system architecture and enhance comprehension of relationships.​</a:t>
            </a:r>
          </a:p>
          <a:p>
            <a:pPr fontAlgn="base"/>
            <a:r>
              <a:rPr lang="en-US" sz="2800" b="1" dirty="0"/>
              <a:t>Supporting literature</a:t>
            </a:r>
            <a:r>
              <a:rPr lang="en-US" sz="2800" dirty="0"/>
              <a:t>​ Reference relevant literature to underpin the project’s background and rationale effectively.</a:t>
            </a:r>
          </a:p>
          <a:p>
            <a:pPr marL="0" indent="0">
              <a:buNone/>
            </a:pP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3741987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DEFDC-6189-79F4-87CE-64CAF60A6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specification</a:t>
            </a:r>
            <a:endParaRPr lang="en-GB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0644E85-3F02-632F-F2E2-56315FC0ED4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1208" y="2490450"/>
            <a:ext cx="10808053" cy="39436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/>
            <a:r>
              <a:rPr lang="en-US" sz="2800" b="1" dirty="0"/>
              <a:t>SMART objectives</a:t>
            </a:r>
            <a:r>
              <a:rPr lang="en-US" sz="2800" dirty="0"/>
              <a:t>​ Setting Specific, Measurable, Achievable, Relevant, and Time-bound objectives ensures project clarity and feasibility.​</a:t>
            </a:r>
          </a:p>
          <a:p>
            <a:pPr fontAlgn="base"/>
            <a:r>
              <a:rPr lang="en-US" sz="2800" b="1" dirty="0"/>
              <a:t>Stretch goals</a:t>
            </a:r>
            <a:r>
              <a:rPr lang="en-US" sz="2800" dirty="0"/>
              <a:t>​ Stretch goals provide flexibility and innovation opportunities when the project progresses ahead of schedule.​</a:t>
            </a:r>
          </a:p>
          <a:p>
            <a:pPr fontAlgn="base"/>
            <a:r>
              <a:rPr lang="en-US" sz="2800" b="1" dirty="0"/>
              <a:t>Literature support</a:t>
            </a:r>
            <a:r>
              <a:rPr lang="en-US" sz="2800" dirty="0"/>
              <a:t>​ Supporting objectives with literature validates choices and aligns the project with current trends and needs.​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1675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4FF53-C25D-FA1E-AEE9-83D93F19E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Assessment &amp; deliverables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E3BAF0-68F9-4916-FFCF-C2346E640A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218544"/>
            <a:ext cx="11155680" cy="4127392"/>
          </a:xfrm>
        </p:spPr>
        <p:txBody>
          <a:bodyPr>
            <a:normAutofit/>
          </a:bodyPr>
          <a:lstStyle/>
          <a:p>
            <a:pPr fontAlgn="base"/>
            <a:r>
              <a:rPr lang="en-US" sz="2800" b="1" dirty="0"/>
              <a:t>Mapping objectives to deliverables</a:t>
            </a:r>
            <a:r>
              <a:rPr lang="en-US" sz="2800" dirty="0"/>
              <a:t>​ Each project objective is clearly linked to specific deliverables to ensure alignment with goals</a:t>
            </a:r>
          </a:p>
          <a:p>
            <a:pPr fontAlgn="base"/>
            <a:r>
              <a:rPr lang="en-US" sz="2800" b="1" dirty="0"/>
              <a:t>Assessment methods</a:t>
            </a:r>
            <a:r>
              <a:rPr lang="en-US" sz="2800" dirty="0"/>
              <a:t>​ Outline assessment methods used to evaluate each deliverable, ensuring transparency and accountability.​</a:t>
            </a:r>
          </a:p>
          <a:p>
            <a:pPr fontAlgn="base"/>
            <a:r>
              <a:rPr lang="en-US" sz="2800" b="1" dirty="0"/>
              <a:t>Tracking progress and performance</a:t>
            </a:r>
            <a:r>
              <a:rPr lang="en-US" sz="2800" dirty="0"/>
              <a:t>​ A clear framework is provided to track progress and measure project performance against expected outcomes.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6062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26674-0253-2684-046E-C3F93FFBB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 &amp; tools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0E9441-4D5F-94A7-2DB1-CD82580DA4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113613"/>
            <a:ext cx="11155680" cy="4232323"/>
          </a:xfrm>
        </p:spPr>
        <p:txBody>
          <a:bodyPr/>
          <a:lstStyle/>
          <a:p>
            <a:pPr fontAlgn="base"/>
            <a:r>
              <a:rPr lang="en-US" sz="2800" b="1" dirty="0"/>
              <a:t>Research methodologies</a:t>
            </a:r>
            <a:r>
              <a:rPr lang="en-US" sz="2800" dirty="0"/>
              <a:t>​ The project uses qualitative, quantitative, and experimental research approaches based on project needs.​</a:t>
            </a:r>
          </a:p>
          <a:p>
            <a:pPr fontAlgn="base"/>
            <a:r>
              <a:rPr lang="en-US" sz="2800" b="1" dirty="0"/>
              <a:t>Development processes</a:t>
            </a:r>
            <a:r>
              <a:rPr lang="en-US" sz="2800" dirty="0"/>
              <a:t>​ Project execution is guided by structured processes</a:t>
            </a:r>
          </a:p>
          <a:p>
            <a:pPr fontAlgn="base"/>
            <a:r>
              <a:rPr lang="en-US" sz="2800" b="1" dirty="0"/>
              <a:t>Essential tools &amp; software</a:t>
            </a:r>
            <a:r>
              <a:rPr lang="en-US" sz="2800" dirty="0"/>
              <a:t>​ Key software tools like MATLAB, Python, and CAD are used to support project development and analysis.​</a:t>
            </a:r>
          </a:p>
          <a:p>
            <a:pPr fontAlgn="base"/>
            <a:r>
              <a:rPr lang="en-US" sz="2800" b="1" dirty="0"/>
              <a:t>Literature support</a:t>
            </a:r>
            <a:r>
              <a:rPr lang="en-US" sz="2800" dirty="0"/>
              <a:t>​ Chosen methods and tools are validated and supported by relevant academic and industry literature.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52346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30C62-73DE-7B01-8072-49B1B983C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Originality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F8662E-FC88-D3CF-602A-B9CD6B6A7E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993692"/>
            <a:ext cx="11155680" cy="4352244"/>
          </a:xfrm>
        </p:spPr>
        <p:txBody>
          <a:bodyPr>
            <a:normAutofit/>
          </a:bodyPr>
          <a:lstStyle/>
          <a:p>
            <a:pPr fontAlgn="base"/>
            <a:r>
              <a:rPr lang="en-US" sz="2800" b="1" dirty="0"/>
              <a:t>Unique project features </a:t>
            </a:r>
            <a:r>
              <a:rPr lang="en-US" sz="2800" dirty="0"/>
              <a:t>​The project stands out by introducing unique elements that differentiate it from prior work.​</a:t>
            </a:r>
          </a:p>
          <a:p>
            <a:pPr fontAlgn="base"/>
            <a:r>
              <a:rPr lang="en-US" sz="2800" b="1" dirty="0"/>
              <a:t>Building on existing work</a:t>
            </a:r>
            <a:r>
              <a:rPr lang="en-US" sz="2800" dirty="0"/>
              <a:t>​ It contributes new insights by either enhancing or diverging from existing research or solutions.​</a:t>
            </a:r>
          </a:p>
          <a:p>
            <a:pPr fontAlgn="base"/>
            <a:r>
              <a:rPr lang="en-US" sz="2800" b="1" dirty="0"/>
              <a:t>Context and impact</a:t>
            </a:r>
            <a:r>
              <a:rPr lang="en-US" sz="2800" dirty="0"/>
              <a:t>​ The project is positioned within current industry or research, highlighting its relevance and potential impact.​</a:t>
            </a:r>
          </a:p>
          <a:p>
            <a:pPr fontAlgn="base"/>
            <a:r>
              <a:rPr lang="en-US" sz="2800" b="1" dirty="0"/>
              <a:t>Visual comparison</a:t>
            </a:r>
            <a:r>
              <a:rPr lang="en-US" sz="2800" dirty="0"/>
              <a:t>​ A comparison chart contrasts existing work with the project, illustrating the innovation effectively.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17930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52340-BDF3-58DD-5690-B2FAC0ADC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" y="978409"/>
            <a:ext cx="11155680" cy="1463040"/>
          </a:xfrm>
        </p:spPr>
        <p:txBody>
          <a:bodyPr/>
          <a:lstStyle/>
          <a:p>
            <a:r>
              <a:rPr lang="en-US" dirty="0"/>
              <a:t>Risk management (example)</a:t>
            </a: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656C3AD-7D7A-8282-B970-15BC2ECCCE1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54064557"/>
              </p:ext>
            </p:extLst>
          </p:nvPr>
        </p:nvGraphicFramePr>
        <p:xfrm>
          <a:off x="1030574" y="1858780"/>
          <a:ext cx="10130851" cy="4587986"/>
        </p:xfrm>
        <a:graphic>
          <a:graphicData uri="http://schemas.openxmlformats.org/drawingml/2006/table">
            <a:tbl>
              <a:tblPr/>
              <a:tblGrid>
                <a:gridCol w="2295131">
                  <a:extLst>
                    <a:ext uri="{9D8B030D-6E8A-4147-A177-3AD203B41FA5}">
                      <a16:colId xmlns:a16="http://schemas.microsoft.com/office/drawing/2014/main" val="1033663298"/>
                    </a:ext>
                  </a:extLst>
                </a:gridCol>
                <a:gridCol w="2797190">
                  <a:extLst>
                    <a:ext uri="{9D8B030D-6E8A-4147-A177-3AD203B41FA5}">
                      <a16:colId xmlns:a16="http://schemas.microsoft.com/office/drawing/2014/main" val="1059716606"/>
                    </a:ext>
                  </a:extLst>
                </a:gridCol>
                <a:gridCol w="2277200">
                  <a:extLst>
                    <a:ext uri="{9D8B030D-6E8A-4147-A177-3AD203B41FA5}">
                      <a16:colId xmlns:a16="http://schemas.microsoft.com/office/drawing/2014/main" val="451196860"/>
                    </a:ext>
                  </a:extLst>
                </a:gridCol>
                <a:gridCol w="2761330">
                  <a:extLst>
                    <a:ext uri="{9D8B030D-6E8A-4147-A177-3AD203B41FA5}">
                      <a16:colId xmlns:a16="http://schemas.microsoft.com/office/drawing/2014/main" val="1490911767"/>
                    </a:ext>
                  </a:extLst>
                </a:gridCol>
              </a:tblGrid>
              <a:tr h="564626">
                <a:tc>
                  <a:txBody>
                    <a:bodyPr/>
                    <a:lstStyle/>
                    <a:p>
                      <a:pPr algn="l" fontAlgn="base">
                        <a:lnSpc>
                          <a:spcPts val="975"/>
                        </a:lnSpc>
                        <a:buNone/>
                      </a:pPr>
                      <a:r>
                        <a:rPr lang="en-US" sz="2000" b="1" i="0" cap="all" dirty="0">
                          <a:solidFill>
                            <a:srgbClr val="00206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Risk</a:t>
                      </a:r>
                      <a:r>
                        <a:rPr lang="en-US" sz="2000" b="1" i="0" dirty="0">
                          <a:solidFill>
                            <a:srgbClr val="00206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​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975"/>
                        </a:lnSpc>
                        <a:buNone/>
                      </a:pPr>
                      <a:r>
                        <a:rPr lang="en-US" sz="2000" b="1" i="0" cap="all" dirty="0">
                          <a:solidFill>
                            <a:srgbClr val="00206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Likelihood</a:t>
                      </a:r>
                      <a:r>
                        <a:rPr lang="en-US" sz="2000" b="1" i="0" dirty="0">
                          <a:solidFill>
                            <a:srgbClr val="00206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​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975"/>
                        </a:lnSpc>
                        <a:buNone/>
                      </a:pPr>
                      <a:r>
                        <a:rPr lang="en-US" sz="2000" b="1" i="0" cap="all">
                          <a:solidFill>
                            <a:srgbClr val="00206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Impact</a:t>
                      </a:r>
                      <a:r>
                        <a:rPr lang="en-US" sz="2000" b="1" i="0">
                          <a:solidFill>
                            <a:srgbClr val="00206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​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975"/>
                        </a:lnSpc>
                        <a:buNone/>
                      </a:pPr>
                      <a:r>
                        <a:rPr lang="en-US" sz="2000" b="1" i="0" cap="all" dirty="0">
                          <a:solidFill>
                            <a:srgbClr val="00206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Mitigation</a:t>
                      </a:r>
                      <a:r>
                        <a:rPr lang="en-US" sz="2000" b="1" i="0" dirty="0">
                          <a:solidFill>
                            <a:srgbClr val="00206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​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1234393"/>
                  </a:ext>
                </a:extLst>
              </a:tr>
              <a:tr h="1004711">
                <a:tc>
                  <a:txBody>
                    <a:bodyPr/>
                    <a:lstStyle/>
                    <a:p>
                      <a:pPr algn="l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2000" b="1" i="0" dirty="0">
                          <a:solidFill>
                            <a:srgbClr val="00206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Equipment failure</a:t>
                      </a:r>
                      <a:r>
                        <a:rPr lang="en-US" sz="2000" b="0" i="0" dirty="0">
                          <a:solidFill>
                            <a:srgbClr val="00206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​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2000" b="0" i="0" dirty="0">
                          <a:solidFill>
                            <a:srgbClr val="00206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Medium​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2000" b="0" i="0">
                          <a:solidFill>
                            <a:srgbClr val="00206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High​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2000" b="0" i="0" dirty="0">
                          <a:solidFill>
                            <a:srgbClr val="00206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Have backup equipment or service contracts​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1910376"/>
                  </a:ext>
                </a:extLst>
              </a:tr>
              <a:tr h="1004711">
                <a:tc>
                  <a:txBody>
                    <a:bodyPr/>
                    <a:lstStyle/>
                    <a:p>
                      <a:pPr algn="l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2000" b="1" i="0">
                          <a:solidFill>
                            <a:srgbClr val="00206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Ordering delays</a:t>
                      </a:r>
                      <a:r>
                        <a:rPr lang="en-US" sz="2000" b="0" i="0">
                          <a:solidFill>
                            <a:srgbClr val="00206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​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2000" b="0" i="0">
                          <a:solidFill>
                            <a:srgbClr val="00206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High​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2000" b="0" i="0">
                          <a:solidFill>
                            <a:srgbClr val="00206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Medium​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2000" b="0" i="0">
                          <a:solidFill>
                            <a:srgbClr val="00206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Order early and track delivery timelines​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5955780"/>
                  </a:ext>
                </a:extLst>
              </a:tr>
              <a:tr h="1004711">
                <a:tc>
                  <a:txBody>
                    <a:bodyPr/>
                    <a:lstStyle/>
                    <a:p>
                      <a:pPr algn="l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2000" b="1" i="0" dirty="0">
                          <a:solidFill>
                            <a:srgbClr val="00206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Software bugs</a:t>
                      </a:r>
                      <a:r>
                        <a:rPr lang="en-US" sz="2000" b="0" i="0" dirty="0">
                          <a:solidFill>
                            <a:srgbClr val="00206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​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2000" b="0" i="0">
                          <a:solidFill>
                            <a:srgbClr val="00206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Medium​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2000" b="0" i="0">
                          <a:solidFill>
                            <a:srgbClr val="00206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High​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2000" b="0" i="0">
                          <a:solidFill>
                            <a:srgbClr val="00206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Implement version control and regular testing​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2247894"/>
                  </a:ext>
                </a:extLst>
              </a:tr>
              <a:tr h="1004711">
                <a:tc>
                  <a:txBody>
                    <a:bodyPr/>
                    <a:lstStyle/>
                    <a:p>
                      <a:pPr algn="l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2000" b="1" i="0">
                          <a:solidFill>
                            <a:srgbClr val="00206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Team availability</a:t>
                      </a:r>
                      <a:r>
                        <a:rPr lang="en-US" sz="2000" b="0" i="0">
                          <a:solidFill>
                            <a:srgbClr val="00206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​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2000" b="0" i="0">
                          <a:solidFill>
                            <a:srgbClr val="00206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Low​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2000" b="0" i="0">
                          <a:solidFill>
                            <a:srgbClr val="00206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Medium​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ct val="100000"/>
                        </a:lnSpc>
                        <a:buNone/>
                      </a:pPr>
                      <a:r>
                        <a:rPr lang="en-US" sz="2000" b="0" i="0" dirty="0">
                          <a:solidFill>
                            <a:srgbClr val="00206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Schedule buffer time and cross-train team members​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3938937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032ADC33-1DCF-ABEB-FAA7-48A2E9F775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5866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FAF3766F-DEF3-4802-BB0D-7A18EDD97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CF9392-7C45-9D3C-1941-FC7AB6089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8"/>
            <a:ext cx="3465681" cy="245059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800" dirty="0">
                <a:solidFill>
                  <a:schemeClr val="tx2"/>
                </a:solidFill>
              </a:rPr>
              <a:t>2 examples of proposal</a:t>
            </a:r>
            <a:br>
              <a:rPr lang="en-US" sz="4800" dirty="0">
                <a:solidFill>
                  <a:schemeClr val="tx2"/>
                </a:solidFill>
              </a:rPr>
            </a:br>
            <a:r>
              <a:rPr lang="en-US" sz="4800" dirty="0">
                <a:solidFill>
                  <a:schemeClr val="tx2"/>
                </a:solidFill>
              </a:rPr>
              <a:t>outlines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91952F0-771E-D2ED-C333-EEED6708B8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1" y="508090"/>
            <a:ext cx="346642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FB6D83C-2377-9CAD-A991-9E0B6AF250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208" y="6299535"/>
            <a:ext cx="3465681" cy="4646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7DCAB1A-E9D5-843B-42D3-DDEA4A4F99D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48096659"/>
              </p:ext>
            </p:extLst>
          </p:nvPr>
        </p:nvGraphicFramePr>
        <p:xfrm>
          <a:off x="4232366" y="802303"/>
          <a:ext cx="7438426" cy="5352299"/>
        </p:xfrm>
        <a:graphic>
          <a:graphicData uri="http://schemas.openxmlformats.org/drawingml/2006/table">
            <a:tbl>
              <a:tblPr firstRow="1" firstCol="1" bandRow="1">
                <a:solidFill>
                  <a:srgbClr val="F7F7F7"/>
                </a:solidFill>
                <a:tableStyleId>{5C22544A-7EE6-4342-B048-85BDC9FD1C3A}</a:tableStyleId>
              </a:tblPr>
              <a:tblGrid>
                <a:gridCol w="3840527">
                  <a:extLst>
                    <a:ext uri="{9D8B030D-6E8A-4147-A177-3AD203B41FA5}">
                      <a16:colId xmlns:a16="http://schemas.microsoft.com/office/drawing/2014/main" val="225832136"/>
                    </a:ext>
                  </a:extLst>
                </a:gridCol>
                <a:gridCol w="3597899">
                  <a:extLst>
                    <a:ext uri="{9D8B030D-6E8A-4147-A177-3AD203B41FA5}">
                      <a16:colId xmlns:a16="http://schemas.microsoft.com/office/drawing/2014/main" val="3548335031"/>
                    </a:ext>
                  </a:extLst>
                </a:gridCol>
              </a:tblGrid>
              <a:tr h="535229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GB" sz="1800" b="1" kern="100" cap="all" spc="6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342900" lvl="0" indent="-342900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en-GB" sz="1800" b="1" kern="100" cap="all" spc="60" dirty="0">
                          <a:solidFill>
                            <a:schemeClr val="tx1"/>
                          </a:solidFill>
                          <a:effectLst/>
                        </a:rPr>
                        <a:t>Problem Statement </a:t>
                      </a:r>
                    </a:p>
                    <a:p>
                      <a:pPr marL="342900" lvl="0" indent="-342900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en-GB" sz="1800" b="1" kern="100" cap="all" spc="60" dirty="0" err="1">
                          <a:solidFill>
                            <a:schemeClr val="tx1"/>
                          </a:solidFill>
                          <a:effectLst/>
                        </a:rPr>
                        <a:t>AimS</a:t>
                      </a:r>
                      <a:r>
                        <a:rPr lang="en-GB" sz="1800" b="1" kern="100" cap="all" spc="6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</a:p>
                    <a:p>
                      <a:pPr marL="342900" lvl="0" indent="-342900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en-GB" sz="1800" b="1" kern="100" cap="all" spc="60" dirty="0">
                          <a:solidFill>
                            <a:schemeClr val="tx1"/>
                          </a:solidFill>
                          <a:effectLst/>
                        </a:rPr>
                        <a:t>Project Brief </a:t>
                      </a:r>
                    </a:p>
                    <a:p>
                      <a:pPr marL="342900" lvl="0" indent="-342900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en-GB" sz="1800" b="1" kern="100" cap="all" spc="60" dirty="0">
                          <a:solidFill>
                            <a:schemeClr val="tx1"/>
                          </a:solidFill>
                          <a:effectLst/>
                        </a:rPr>
                        <a:t>Objectives and Deliverables </a:t>
                      </a:r>
                    </a:p>
                    <a:p>
                      <a:pPr marL="342900" lvl="0" indent="-342900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en-GB" sz="1800" b="1" kern="100" cap="all" spc="60" dirty="0">
                          <a:solidFill>
                            <a:schemeClr val="tx1"/>
                          </a:solidFill>
                          <a:effectLst/>
                        </a:rPr>
                        <a:t>Industrial Relevance </a:t>
                      </a:r>
                    </a:p>
                    <a:p>
                      <a:pPr marL="342900" lvl="0" indent="-342900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en-GB" sz="1800" b="1" kern="100" cap="all" spc="60" dirty="0">
                          <a:solidFill>
                            <a:schemeClr val="tx1"/>
                          </a:solidFill>
                          <a:effectLst/>
                        </a:rPr>
                        <a:t>Project Management and Timeline</a:t>
                      </a:r>
                    </a:p>
                    <a:p>
                      <a:pPr marL="342900" lvl="0" indent="-342900">
                        <a:lnSpc>
                          <a:spcPct val="150000"/>
                        </a:lnSpc>
                        <a:spcAft>
                          <a:spcPts val="800"/>
                        </a:spcAft>
                        <a:buFont typeface="+mj-lt"/>
                        <a:buAutoNum type="arabicPeriod"/>
                      </a:pPr>
                      <a:r>
                        <a:rPr lang="en-GB" sz="1800" b="1" kern="100" cap="all" spc="60" dirty="0">
                          <a:solidFill>
                            <a:schemeClr val="tx1"/>
                          </a:solidFill>
                          <a:effectLst/>
                        </a:rPr>
                        <a:t>References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b="1" kern="100" cap="all" spc="6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GB" sz="1800" b="1" kern="100" cap="all" spc="6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0259" marR="200259" marT="200259" marB="200259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800" b="1" kern="100" cap="all" spc="6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</a:p>
                    <a:p>
                      <a:pPr marL="342900" lvl="0" indent="-342900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en-GB" sz="1800" b="1" kern="100" cap="all" spc="60" dirty="0">
                          <a:solidFill>
                            <a:schemeClr val="tx1"/>
                          </a:solidFill>
                          <a:effectLst/>
                        </a:rPr>
                        <a:t>Introduction</a:t>
                      </a:r>
                    </a:p>
                    <a:p>
                      <a:pPr marL="342900" lvl="0" indent="-342900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en-GB" sz="1800" b="1" kern="100" cap="all" spc="60" dirty="0">
                          <a:solidFill>
                            <a:schemeClr val="tx1"/>
                          </a:solidFill>
                          <a:effectLst/>
                        </a:rPr>
                        <a:t>Industrial Relevance</a:t>
                      </a:r>
                    </a:p>
                    <a:p>
                      <a:pPr marL="342900" lvl="0" indent="-342900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en-GB" sz="1800" b="1" kern="100" cap="all" spc="60" dirty="0">
                          <a:solidFill>
                            <a:schemeClr val="tx1"/>
                          </a:solidFill>
                          <a:effectLst/>
                        </a:rPr>
                        <a:t>Literature Review</a:t>
                      </a:r>
                    </a:p>
                    <a:p>
                      <a:pPr marL="342900" lvl="0" indent="-342900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en-GB" sz="1800" b="1" kern="100" cap="all" spc="60" dirty="0">
                          <a:solidFill>
                            <a:schemeClr val="tx1"/>
                          </a:solidFill>
                          <a:effectLst/>
                        </a:rPr>
                        <a:t>Aims &amp; Objectives</a:t>
                      </a:r>
                    </a:p>
                    <a:p>
                      <a:pPr marL="342900" lvl="0" indent="-342900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en-GB" sz="1800" b="1" kern="100" cap="all" spc="60" dirty="0">
                          <a:solidFill>
                            <a:schemeClr val="tx1"/>
                          </a:solidFill>
                          <a:effectLst/>
                        </a:rPr>
                        <a:t>Methodology</a:t>
                      </a:r>
                    </a:p>
                    <a:p>
                      <a:pPr marL="342900" lvl="0" indent="-342900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en-GB" sz="1800" b="1" kern="100" cap="all" spc="60" dirty="0">
                          <a:solidFill>
                            <a:schemeClr val="tx1"/>
                          </a:solidFill>
                          <a:effectLst/>
                        </a:rPr>
                        <a:t>Risks</a:t>
                      </a:r>
                    </a:p>
                    <a:p>
                      <a:pPr marL="342900" lvl="0" indent="-342900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en-GB" sz="1800" b="1" kern="100" cap="all" spc="60" dirty="0">
                          <a:solidFill>
                            <a:schemeClr val="tx1"/>
                          </a:solidFill>
                          <a:effectLst/>
                        </a:rPr>
                        <a:t>Project Schedule</a:t>
                      </a:r>
                    </a:p>
                    <a:p>
                      <a:pPr marL="342900" lvl="0" indent="-342900">
                        <a:lnSpc>
                          <a:spcPct val="150000"/>
                        </a:lnSpc>
                        <a:spcAft>
                          <a:spcPts val="800"/>
                        </a:spcAft>
                        <a:buFont typeface="+mj-lt"/>
                        <a:buAutoNum type="arabicPeriod"/>
                      </a:pPr>
                      <a:r>
                        <a:rPr lang="en-GB" sz="1800" b="1" kern="100" cap="all" spc="60" dirty="0">
                          <a:solidFill>
                            <a:schemeClr val="tx1"/>
                          </a:solidFill>
                          <a:effectLst/>
                        </a:rPr>
                        <a:t>References</a:t>
                      </a:r>
                      <a:endParaRPr lang="en-GB" sz="1800" b="1" kern="100" cap="all" spc="6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00259" marR="200259" marT="200259" marB="200259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67917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813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8DBEE-1CE7-4636-BA16-4D3A65979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considerations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748379-4EBB-47F9-8B78-2F0CE6E8DA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Length: 7-8 pages</a:t>
            </a:r>
          </a:p>
          <a:p>
            <a:r>
              <a:rPr lang="en-US" sz="2800" dirty="0"/>
              <a:t>Label tables and figures</a:t>
            </a:r>
          </a:p>
          <a:p>
            <a:r>
              <a:rPr lang="en-US" sz="2800" dirty="0"/>
              <a:t>Use academic tone 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21302962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 descr="Q a Questions Vector Images (over 320)">
            <a:extLst>
              <a:ext uri="{FF2B5EF4-FFF2-40B4-BE49-F238E27FC236}">
                <a16:creationId xmlns:a16="http://schemas.microsoft.com/office/drawing/2014/main" id="{5B308089-B5F2-1357-0B8B-DAB24B1C1A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6514" y="1390337"/>
            <a:ext cx="7357172" cy="4414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2545832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541</Words>
  <Application>Microsoft Office PowerPoint</Application>
  <PresentationFormat>Widescreen</PresentationFormat>
  <Paragraphs>76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Aptos</vt:lpstr>
      <vt:lpstr>Arial</vt:lpstr>
      <vt:lpstr>Bierstadt</vt:lpstr>
      <vt:lpstr>Neue Haas Grotesk Text Pro</vt:lpstr>
      <vt:lpstr>Times New Roman</vt:lpstr>
      <vt:lpstr>Verdana</vt:lpstr>
      <vt:lpstr>GestaltVTI</vt:lpstr>
      <vt:lpstr>Proposal Writing Workshop</vt:lpstr>
      <vt:lpstr>Workshop aims </vt:lpstr>
      <vt:lpstr>Project overview</vt:lpstr>
      <vt:lpstr>Project specification</vt:lpstr>
      <vt:lpstr>Assessment &amp; deliverables</vt:lpstr>
      <vt:lpstr>Methodology &amp; tools</vt:lpstr>
      <vt:lpstr>Originality</vt:lpstr>
      <vt:lpstr>Risk management (example)</vt:lpstr>
      <vt:lpstr>2 examples of proposal outlines</vt:lpstr>
      <vt:lpstr>Other considerations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Proposal Writing Workshop</dc:title>
  <dc:creator>SALEHA ABDUL RAHMAN</dc:creator>
  <cp:lastModifiedBy>SALEHA ABDUL RAHMAN</cp:lastModifiedBy>
  <cp:revision>6</cp:revision>
  <dcterms:created xsi:type="dcterms:W3CDTF">2025-10-01T11:09:57Z</dcterms:created>
  <dcterms:modified xsi:type="dcterms:W3CDTF">2025-10-02T00:49:16Z</dcterms:modified>
</cp:coreProperties>
</file>